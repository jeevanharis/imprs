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33CC"/>
    <a:srgbClr val="EBF1DE"/>
    <a:srgbClr val="CC99FF"/>
    <a:srgbClr val="FF99FF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2941" autoAdjust="0"/>
  </p:normalViewPr>
  <p:slideViewPr>
    <p:cSldViewPr snapToGrid="0" snapToObjects="1">
      <p:cViewPr varScale="1">
        <p:scale>
          <a:sx n="76" d="100"/>
          <a:sy n="76" d="100"/>
        </p:scale>
        <p:origin x="89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acebookresearch/faiss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www.coal.gov.in/index.php/public-information/reports/annual-reports/annual-report-2024-25?utm_source=chatgpt.com" TargetMode="External"/><Relationship Id="rId7" Type="http://schemas.openxmlformats.org/officeDocument/2006/relationships/hyperlink" Target="https://www.coal.nic.in/sites/default/files/2025-02/chap11AnnualReport2025en2.pdf" TargetMode="External"/><Relationship Id="rId12" Type="http://schemas.openxmlformats.org/officeDocument/2006/relationships/hyperlink" Target="https://openpyxl.readthedocs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mpdi.co.in/en/investor/annual-reports" TargetMode="External"/><Relationship Id="rId11" Type="http://schemas.openxmlformats.org/officeDocument/2006/relationships/hyperlink" Target="https://python-docx.readthedocs.io/" TargetMode="External"/><Relationship Id="rId5" Type="http://schemas.openxmlformats.org/officeDocument/2006/relationships/hyperlink" Target="https://www.coal.gov.in/major-statistics/coal-statistics" TargetMode="External"/><Relationship Id="rId10" Type="http://schemas.openxmlformats.org/officeDocument/2006/relationships/hyperlink" Target="https://pymupdf.readthedocs.io/" TargetMode="External"/><Relationship Id="rId4" Type="http://schemas.openxmlformats.org/officeDocument/2006/relationships/hyperlink" Target="https://www.coal.gov.in/index.php/public-information/reports/annual-reports/annual-report-2024-25" TargetMode="External"/><Relationship Id="rId9" Type="http://schemas.openxmlformats.org/officeDocument/2006/relationships/hyperlink" Target="https://github.com/PaddlePaddle/PaddleOCR" TargetMode="External"/><Relationship Id="rId14" Type="http://schemas.openxmlformats.org/officeDocument/2006/relationships/hyperlink" Target="https://youtu.be/mYemqU1wmE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613914" y="342397"/>
            <a:ext cx="7092069" cy="786142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3B3244-9303-3FD5-4316-A5CF3211673E}"/>
              </a:ext>
            </a:extLst>
          </p:cNvPr>
          <p:cNvSpPr/>
          <p:nvPr/>
        </p:nvSpPr>
        <p:spPr>
          <a:xfrm>
            <a:off x="179622" y="763157"/>
            <a:ext cx="5658724" cy="28437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11521" y="774512"/>
            <a:ext cx="5658724" cy="2831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Problem: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Geological, mining and production data is scattered across </a:t>
            </a:r>
            <a:r>
              <a:rPr lang="en-IN" sz="1600" b="1" dirty="0"/>
              <a:t>scanned PDFs, documents, spreadsheets, images and archives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Reports and </a:t>
            </a:r>
            <a:r>
              <a:rPr lang="en-IN" sz="1600" b="1" dirty="0"/>
              <a:t>parliamentary/high-priority queries</a:t>
            </a:r>
            <a:r>
              <a:rPr lang="en-IN" sz="1600" dirty="0"/>
              <a:t> require extensive manual searching and compilation.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Manual</a:t>
            </a:r>
            <a:r>
              <a:rPr lang="en-IN" sz="1600" dirty="0"/>
              <a:t> data extraction leads to </a:t>
            </a:r>
            <a:r>
              <a:rPr lang="en-IN" sz="1600" b="1" dirty="0"/>
              <a:t>errors and inconsistencies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Historical information is difficult to retrieve, creating </a:t>
            </a:r>
            <a:r>
              <a:rPr lang="en-IN" sz="1600" b="1" dirty="0"/>
              <a:t>dependency on individual expertise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There is no </a:t>
            </a:r>
            <a:r>
              <a:rPr lang="en-IN" sz="1600" b="1" dirty="0"/>
              <a:t>secure, intelligent platform</a:t>
            </a:r>
            <a:r>
              <a:rPr lang="en-IN" sz="1600" dirty="0"/>
              <a:t> for automated document processing, validation, retrieval and reporting.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9D321-7EE8-4C36-20AE-0411668FAB55}"/>
              </a:ext>
            </a:extLst>
          </p:cNvPr>
          <p:cNvSpPr/>
          <p:nvPr/>
        </p:nvSpPr>
        <p:spPr>
          <a:xfrm>
            <a:off x="160710" y="3741450"/>
            <a:ext cx="4974000" cy="27027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AA743-141F-F4B9-84A4-669B25E076E0}"/>
              </a:ext>
            </a:extLst>
          </p:cNvPr>
          <p:cNvSpPr txBox="1"/>
          <p:nvPr/>
        </p:nvSpPr>
        <p:spPr>
          <a:xfrm>
            <a:off x="137199" y="3663312"/>
            <a:ext cx="499751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Innovation &amp; Uniqueness:</a:t>
            </a: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Evidence-Provenance AI</a:t>
            </a:r>
            <a:r>
              <a:rPr lang="en-IN" sz="1600" dirty="0"/>
              <a:t> — Traces answers and figures to source documents, pages and tables.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Cross-Document Validation</a:t>
            </a:r>
            <a:r>
              <a:rPr lang="en-IN" sz="1600" dirty="0"/>
              <a:t> — Compares data across reports, spreadsheets and historical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Contradiction Detection</a:t>
            </a:r>
            <a:r>
              <a:rPr lang="en-IN" sz="1600" dirty="0"/>
              <a:t> — Flags conflicting figures instead of generating unsupported answers.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Agentic Model Chaining</a:t>
            </a:r>
            <a:r>
              <a:rPr lang="en-IN" sz="1600" dirty="0"/>
              <a:t> — Combines specialized models and tools for complex tasks.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Institutional Knowledge Base</a:t>
            </a:r>
            <a:r>
              <a:rPr lang="en-IN" sz="1600" dirty="0"/>
              <a:t> — Converts historical archives into a searchable knowledge base.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1550" y="-133159"/>
            <a:ext cx="9217300" cy="976351"/>
          </a:xfrm>
        </p:spPr>
        <p:txBody>
          <a:bodyPr/>
          <a:lstStyle/>
          <a:p>
            <a:pPr eaLnBrk="1" hangingPunct="1"/>
            <a:r>
              <a:rPr lang="en-IN" sz="2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ARIA: Offline AI for Evidence-Backed Mining Intelligence</a:t>
            </a:r>
            <a:endParaRPr lang="en-US" sz="255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521" y="55878"/>
            <a:ext cx="1837198" cy="5867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NEXUS</a:t>
            </a:r>
            <a:r>
              <a:rPr lang="en-IN" sz="1400" dirty="0"/>
              <a:t>_ALPHA</a:t>
            </a:r>
            <a:endParaRPr lang="en-US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990" y="1434060"/>
            <a:ext cx="1562745" cy="7378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B2D7D0-31FE-38A8-07C4-13D0DCF61A70}"/>
              </a:ext>
            </a:extLst>
          </p:cNvPr>
          <p:cNvSpPr txBox="1"/>
          <p:nvPr/>
        </p:nvSpPr>
        <p:spPr>
          <a:xfrm>
            <a:off x="5988495" y="775300"/>
            <a:ext cx="6137921" cy="28931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Proposed Solution: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100% Local / Offline AI</a:t>
            </a:r>
            <a:r>
              <a:rPr lang="en-IN" sz="1600" dirty="0"/>
              <a:t> — Processes documents, queries and outputs entirely within the organization.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 Document Intelligence</a:t>
            </a:r>
            <a:r>
              <a:rPr lang="en-IN" sz="1600" dirty="0"/>
              <a:t> — Extracts information from scanned and digital documents automatically.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Automated Report Generation</a:t>
            </a:r>
            <a:r>
              <a:rPr lang="en-IN" sz="1600" dirty="0"/>
              <a:t> — Converts verified data into structured reports and official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Evidence-Based Query System</a:t>
            </a:r>
            <a:r>
              <a:rPr lang="en-IN" sz="1600" dirty="0"/>
              <a:t> — Answers questions with source-level traceability and verification.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Word Cloud &amp; Topic Identification</a:t>
            </a:r>
            <a:r>
              <a:rPr lang="en-IN" sz="1600" dirty="0"/>
              <a:t> — Surfaces recurring terms and emerging themes across the document archive.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F4E915-F7D8-A39F-7708-DBAA67C6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@SIH Idea submission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E2C7F1-56E8-A29D-D48C-CE646071B7DF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2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F0A5B64-E61A-7047-C0FD-0E5AE7383F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26" b="2641"/>
          <a:stretch>
            <a:fillRect/>
          </a:stretch>
        </p:blipFill>
        <p:spPr>
          <a:xfrm>
            <a:off x="5158220" y="3694089"/>
            <a:ext cx="7033780" cy="2831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D333AC-6250-D1D0-8BF2-8CBE2C7A87E0}"/>
              </a:ext>
            </a:extLst>
          </p:cNvPr>
          <p:cNvSpPr/>
          <p:nvPr/>
        </p:nvSpPr>
        <p:spPr>
          <a:xfrm>
            <a:off x="68975" y="604116"/>
            <a:ext cx="3783699" cy="59904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7072" y="-300530"/>
            <a:ext cx="10273470" cy="1055193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968" y="597149"/>
            <a:ext cx="3856741" cy="6309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rgbClr val="FF0000"/>
                </a:solidFill>
              </a:rPr>
              <a:t>Proposed Technical Stack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sz="1600" b="1" dirty="0"/>
              <a:t>AI / Models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Open-weight LLMs — Llama / Qwen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Local Vision &amp; OCR 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Local embedding model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Specialized extraction/reasoning models </a:t>
            </a:r>
          </a:p>
          <a:p>
            <a:r>
              <a:rPr lang="en-IN" sz="1600" b="1" dirty="0"/>
              <a:t>Backend / AI Orchestration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 + </a:t>
            </a:r>
            <a:r>
              <a:rPr lang="en-IN" sz="1600" dirty="0" err="1"/>
              <a:t>FastAPI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Agent / Model Router, AI Orchestrator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Local LLM inference using llama.cpp </a:t>
            </a:r>
          </a:p>
          <a:p>
            <a:r>
              <a:rPr lang="en-IN" sz="1600" b="1" dirty="0"/>
              <a:t>Knowledge &amp; Data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PostgreSQL — structured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FAISS / Chroma — vector database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BM25 + Vector Search — Hybrid RAG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Document metadata &amp; provenance store </a:t>
            </a:r>
          </a:p>
          <a:p>
            <a:r>
              <a:rPr lang="en-IN" sz="1600" b="1" dirty="0"/>
              <a:t>Document Processing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PaddleOCR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python-docx , </a:t>
            </a:r>
            <a:r>
              <a:rPr lang="en-IN" sz="1600" dirty="0" err="1"/>
              <a:t>PyMuPDF</a:t>
            </a:r>
            <a:r>
              <a:rPr lang="en-IN" sz="1600" dirty="0"/>
              <a:t> , </a:t>
            </a:r>
            <a:r>
              <a:rPr lang="en-IN" sz="1600" dirty="0" err="1"/>
              <a:t>Openpyxl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Pandas</a:t>
            </a:r>
          </a:p>
          <a:p>
            <a:r>
              <a:rPr lang="en-IN" sz="1600" b="1" dirty="0"/>
              <a:t>Frontend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HTML , CSS , JavaScript</a:t>
            </a:r>
          </a:p>
          <a:p>
            <a:r>
              <a:rPr lang="en-IN" sz="1600" b="1" dirty="0"/>
              <a:t>Security &amp; Infrastructure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Local GPU Server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Private / Air-Gapped Network </a:t>
            </a:r>
          </a:p>
          <a:p>
            <a:pPr lvl="0"/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37" y="-55140"/>
            <a:ext cx="1079725" cy="5098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86EFD1-2365-B7BB-9374-AAACD1CE85A3}"/>
              </a:ext>
            </a:extLst>
          </p:cNvPr>
          <p:cNvSpPr txBox="1"/>
          <p:nvPr/>
        </p:nvSpPr>
        <p:spPr>
          <a:xfrm>
            <a:off x="4039962" y="4265685"/>
            <a:ext cx="3167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0000"/>
                </a:solidFill>
              </a:rPr>
              <a:t>Working Prototype:</a:t>
            </a:r>
          </a:p>
          <a:p>
            <a:r>
              <a:rPr lang="en-IN" dirty="0"/>
              <a:t>The prototype demonstrates </a:t>
            </a:r>
            <a:r>
              <a:rPr lang="en-IN" b="1" dirty="0"/>
              <a:t>local/offline AI, hybrid RAG, multimodal document processing, validation, evidence traceability, and automated report generation</a:t>
            </a:r>
            <a:r>
              <a:rPr lang="en-IN" dirty="0"/>
              <a:t> for CMPDI/CIL workflows.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39B4E7-09A9-8ED7-38B5-84A79AB6C6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97149" y="4276231"/>
            <a:ext cx="4925875" cy="231836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27B4EE-C8BF-AD61-EB81-38B3821AB0AD}"/>
              </a:ext>
            </a:extLst>
          </p:cNvPr>
          <p:cNvCxnSpPr>
            <a:cxnSpLocks/>
          </p:cNvCxnSpPr>
          <p:nvPr/>
        </p:nvCxnSpPr>
        <p:spPr>
          <a:xfrm>
            <a:off x="3946961" y="557875"/>
            <a:ext cx="31689" cy="5934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DD3102-9ABE-BEA2-923C-2952553F5659}"/>
              </a:ext>
            </a:extLst>
          </p:cNvPr>
          <p:cNvCxnSpPr>
            <a:cxnSpLocks/>
          </p:cNvCxnSpPr>
          <p:nvPr/>
        </p:nvCxnSpPr>
        <p:spPr>
          <a:xfrm flipV="1">
            <a:off x="4019337" y="4226093"/>
            <a:ext cx="8204428" cy="131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9ADE15C-8D58-DDD4-9147-76E924079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4147"/>
            <a:ext cx="12192000" cy="23740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@SIH Idea submission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4D276-F11A-6F42-7BD6-19F5C02F02F4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3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BFEEA3E2-D82E-9FD8-F816-DF7AF80ABB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0566" y="52566"/>
            <a:ext cx="1849103" cy="47576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NEXUS</a:t>
            </a:r>
            <a:r>
              <a:rPr lang="en-IN" sz="1400" dirty="0"/>
              <a:t>_ALPHA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350CCA5-3269-DD66-71A2-68095BC481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47" t="5729" b="10415"/>
          <a:stretch>
            <a:fillRect/>
          </a:stretch>
        </p:blipFill>
        <p:spPr>
          <a:xfrm>
            <a:off x="4124943" y="454686"/>
            <a:ext cx="7997319" cy="3750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0947" y="841097"/>
            <a:ext cx="5526904" cy="28315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Feasibility</a:t>
            </a:r>
            <a:r>
              <a:rPr lang="en-IN" b="1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Open-weight models</a:t>
            </a:r>
            <a:r>
              <a:rPr lang="en-IN" sz="1600" dirty="0"/>
              <a:t> are available in various platforms such</a:t>
            </a:r>
          </a:p>
          <a:p>
            <a:pPr lvl="0"/>
            <a:r>
              <a:rPr lang="en-IN" sz="1600" dirty="0"/>
              <a:t>      as Hugging Face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Existing technologies support </a:t>
            </a:r>
            <a:r>
              <a:rPr lang="en-IN" sz="1600" b="1" dirty="0"/>
              <a:t>LLMs, OCR, Vision, RAG and agentic workflows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PyMuPDF</a:t>
            </a:r>
            <a:r>
              <a:rPr lang="en-IN" sz="1600" dirty="0"/>
              <a:t>, </a:t>
            </a:r>
            <a:r>
              <a:rPr lang="en-IN" sz="1600" dirty="0" err="1"/>
              <a:t>PaddleOCR</a:t>
            </a:r>
            <a:r>
              <a:rPr lang="en-IN" sz="1600" dirty="0"/>
              <a:t>, </a:t>
            </a:r>
            <a:r>
              <a:rPr lang="en-IN" sz="1600" dirty="0" err="1"/>
              <a:t>Openpyxl</a:t>
            </a:r>
            <a:r>
              <a:rPr lang="en-IN" sz="1600" dirty="0"/>
              <a:t> and python-docx support the required document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Modular architecture allows new specialized models to be integrated without redesigning the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Hybrid</a:t>
            </a:r>
            <a:r>
              <a:rPr lang="en-IN" sz="1600" dirty="0"/>
              <a:t> retrieval combines </a:t>
            </a:r>
            <a:r>
              <a:rPr lang="en-IN" sz="1600" b="1" dirty="0"/>
              <a:t>exact keyword matching with semantic search</a:t>
            </a:r>
            <a:r>
              <a:rPr lang="en-IN" sz="1600" dirty="0"/>
              <a:t> for document intelligence.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884" y="1500"/>
            <a:ext cx="1824052" cy="8612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8C3FF-23AF-533F-6588-36A9360D3D82}"/>
              </a:ext>
            </a:extLst>
          </p:cNvPr>
          <p:cNvSpPr txBox="1"/>
          <p:nvPr/>
        </p:nvSpPr>
        <p:spPr>
          <a:xfrm>
            <a:off x="5914177" y="841311"/>
            <a:ext cx="6016875" cy="28623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Viability</a:t>
            </a:r>
            <a:r>
              <a:rPr lang="en-IN" sz="1600" b="1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Protects organizational data</a:t>
            </a:r>
            <a:r>
              <a:rPr lang="en-IN" sz="1600" dirty="0"/>
              <a:t> through local/on-premise AI processing. 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Automates repetitive </a:t>
            </a:r>
            <a:r>
              <a:rPr lang="en-IN" sz="1600" b="1" dirty="0"/>
              <a:t>document analysis, data extraction and report generation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Provides a centralized </a:t>
            </a:r>
            <a:r>
              <a:rPr lang="en-IN" sz="1600" b="1" dirty="0"/>
              <a:t>institutional knowledge base</a:t>
            </a:r>
            <a:r>
              <a:rPr lang="en-IN" sz="1600" dirty="0"/>
              <a:t> from historical and current documents.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Supports faster responses to </a:t>
            </a:r>
            <a:r>
              <a:rPr lang="en-IN" sz="1600" b="1" dirty="0"/>
              <a:t>parliamentary and high-priority administrative inquiries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Scales from a </a:t>
            </a:r>
            <a:r>
              <a:rPr lang="en-IN" sz="1600" b="1" dirty="0"/>
              <a:t>single local workstation → subsidiary deployment → organization-wide AI infrastructure</a:t>
            </a:r>
            <a:r>
              <a:rPr lang="en-IN" sz="1600" dirty="0"/>
              <a:t>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438772-3D2E-05F3-B41D-8528D8267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60597"/>
              </p:ext>
            </p:extLst>
          </p:nvPr>
        </p:nvGraphicFramePr>
        <p:xfrm>
          <a:off x="211505" y="3854968"/>
          <a:ext cx="11768990" cy="2651277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877705">
                  <a:extLst>
                    <a:ext uri="{9D8B030D-6E8A-4147-A177-3AD203B41FA5}">
                      <a16:colId xmlns:a16="http://schemas.microsoft.com/office/drawing/2014/main" val="3826386739"/>
                    </a:ext>
                  </a:extLst>
                </a:gridCol>
                <a:gridCol w="5891285">
                  <a:extLst>
                    <a:ext uri="{9D8B030D-6E8A-4147-A177-3AD203B41FA5}">
                      <a16:colId xmlns:a16="http://schemas.microsoft.com/office/drawing/2014/main" val="1543594442"/>
                    </a:ext>
                  </a:extLst>
                </a:gridCol>
              </a:tblGrid>
              <a:tr h="379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Challenges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Solution to Overcome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841312"/>
                  </a:ext>
                </a:extLst>
              </a:tr>
              <a:tr h="41266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GPU/RAM limitations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Use quantized models and dynamic loading to optimize resources.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838180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AI hallucinations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Ground responses with local RAG, verification and human review.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159048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Conflicting production figures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i="0" dirty="0"/>
                        <a:t>Auto-resolves using a source-priority hierarchy, citing the authoritative source.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867273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Numerical extraction errors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AI Extraction — Validates numerical data during extraction.</a:t>
                      </a:r>
                      <a:endParaRPr lang="en-IN" sz="1500" b="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17467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Large historical archives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dirty="0"/>
                        <a:t>Institutional Knowledge Base Organizes large historical archives.</a:t>
                      </a:r>
                      <a:endParaRPr lang="en-IN" sz="1500" b="0" dirty="0"/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81295"/>
                  </a:ext>
                </a:extLst>
              </a:tr>
              <a:tr h="31611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Complex / poor-quality documents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/>
                        <a:t>Combine OCR + Vision, preprocessing and validation.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8377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C025A30-66C2-2BD7-5E3A-07060EF35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ＭＳ Ｐゴシック" pitchFamily="1" charset="-128"/>
                <a:cs typeface="+mn-cs"/>
              </a:rPr>
              <a:t>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radeGothic"/>
              <a:ea typeface="ＭＳ Ｐゴシック" pitchFamily="1" charset="-128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40BE5-2EE7-5FA9-12BC-DC889472DFE2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4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32E1732D-D685-3DFB-3D4B-DFC41AB973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39965"/>
            <a:ext cx="1828758" cy="721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NEXUS</a:t>
            </a:r>
            <a:r>
              <a:rPr lang="en-IN" sz="1400" dirty="0"/>
              <a:t>_ALPHA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936C339-60DA-DAF7-5CB8-97869FBF7FD1}"/>
              </a:ext>
            </a:extLst>
          </p:cNvPr>
          <p:cNvSpPr/>
          <p:nvPr/>
        </p:nvSpPr>
        <p:spPr>
          <a:xfrm>
            <a:off x="233445" y="692436"/>
            <a:ext cx="5724600" cy="2710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1D6A57-628B-9D14-9693-6B1E26044EA4}"/>
              </a:ext>
            </a:extLst>
          </p:cNvPr>
          <p:cNvSpPr/>
          <p:nvPr/>
        </p:nvSpPr>
        <p:spPr>
          <a:xfrm>
            <a:off x="233445" y="3484924"/>
            <a:ext cx="5724600" cy="29965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3248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08161" y="683587"/>
            <a:ext cx="5723236" cy="3077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Potential Impact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CMPDI / CIL</a:t>
            </a:r>
            <a:r>
              <a:rPr lang="en-IN" sz="1600" dirty="0"/>
              <a:t> — faster analysis of geological, mining and production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Ministry of Coal</a:t>
            </a:r>
            <a:r>
              <a:rPr lang="en-IN" sz="1600" dirty="0"/>
              <a:t> — quicker parliamentary and high-priority responses.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Officials &amp; Analysts</a:t>
            </a:r>
            <a:r>
              <a:rPr lang="en-IN" sz="1600" dirty="0"/>
              <a:t> — automated extraction, validation and report preparation.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Government Operations</a:t>
            </a:r>
            <a:r>
              <a:rPr lang="en-IN" sz="1600" dirty="0"/>
              <a:t> — standardized reporting and faster information access.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Organization</a:t>
            </a:r>
            <a:r>
              <a:rPr lang="en-IN" sz="1600" dirty="0"/>
              <a:t> — preserved institutional knowledge with secure offline AI.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2064" y="9510"/>
            <a:ext cx="1858323" cy="60882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NEXUS_ALPHA</a:t>
            </a:r>
            <a:endParaRPr lang="en-IN" sz="1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446" y="1501"/>
            <a:ext cx="1338490" cy="6320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E18F63-D81B-8339-1A86-6B52B10A8544}"/>
              </a:ext>
            </a:extLst>
          </p:cNvPr>
          <p:cNvSpPr txBox="1"/>
          <p:nvPr/>
        </p:nvSpPr>
        <p:spPr>
          <a:xfrm>
            <a:off x="216660" y="3473428"/>
            <a:ext cx="58476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Benefits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Faster Reporting</a:t>
            </a:r>
            <a:r>
              <a:rPr lang="en-IN" sz="1600" dirty="0"/>
              <a:t> — reduces time spent on document analysis and report preparation.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Reduced Manual Work</a:t>
            </a:r>
            <a:r>
              <a:rPr lang="en-IN" sz="1600" dirty="0"/>
              <a:t> — automates repetitive extraction, comparison and reporting tasks.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Secure AI Processing</a:t>
            </a:r>
            <a:r>
              <a:rPr lang="en-IN" sz="1600" dirty="0"/>
              <a:t> — keeps sensitive CMPDI/CIL data within the local infrastructure.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Faster Decision Support</a:t>
            </a:r>
            <a:r>
              <a:rPr lang="en-IN" sz="1600" dirty="0"/>
              <a:t> — provides verified information with source-level traceability.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Preserved Institutional Knowledge</a:t>
            </a:r>
            <a:r>
              <a:rPr lang="en-IN" sz="1600" dirty="0"/>
              <a:t> — makes historical records searchable and reusable.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Improved Accuracy</a:t>
            </a:r>
            <a:r>
              <a:rPr lang="en-IN" sz="1600" dirty="0"/>
              <a:t> — validates and identifies conflicts in data.</a:t>
            </a:r>
          </a:p>
          <a:p>
            <a:pPr lvl="0"/>
            <a:r>
              <a:rPr lang="en-IN" sz="1600" dirty="0"/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A081B1-A79B-8525-8985-4F3C2A38A8EE}"/>
              </a:ext>
            </a:extLst>
          </p:cNvPr>
          <p:cNvCxnSpPr>
            <a:cxnSpLocks/>
          </p:cNvCxnSpPr>
          <p:nvPr/>
        </p:nvCxnSpPr>
        <p:spPr>
          <a:xfrm>
            <a:off x="6096001" y="604018"/>
            <a:ext cx="31689" cy="593489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5B89F01-C01F-7665-29F6-BD774F7DA4B0}"/>
              </a:ext>
            </a:extLst>
          </p:cNvPr>
          <p:cNvSpPr txBox="1"/>
          <p:nvPr/>
        </p:nvSpPr>
        <p:spPr>
          <a:xfrm>
            <a:off x="6155813" y="633887"/>
            <a:ext cx="603816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Use Case: </a:t>
            </a:r>
            <a:r>
              <a:rPr lang="en-IN" sz="1600" b="1" dirty="0"/>
              <a:t>Parliamentary Query → Evidence-Backed Response</a:t>
            </a:r>
            <a:endParaRPr lang="en-IN" b="1" dirty="0"/>
          </a:p>
          <a:p>
            <a:r>
              <a:rPr lang="en-IN" b="1" dirty="0"/>
              <a:t>Scenario:</a:t>
            </a:r>
            <a:br>
              <a:rPr lang="en-IN" dirty="0"/>
            </a:br>
            <a:r>
              <a:rPr lang="en-IN" sz="1600" b="1" dirty="0"/>
              <a:t>“Provide the production of Coal India subsidiaries for the last 5 years, compare the figures, and explain the major changes.”</a:t>
            </a:r>
            <a:endParaRPr lang="en-IN" sz="17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2D0CE-D6C1-B377-DA10-5A6D04BB883F}"/>
              </a:ext>
            </a:extLst>
          </p:cNvPr>
          <p:cNvSpPr txBox="1"/>
          <p:nvPr/>
        </p:nvSpPr>
        <p:spPr>
          <a:xfrm>
            <a:off x="6395108" y="5283571"/>
            <a:ext cx="56348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All processing happens locally — confidential CMPDI/CIL information never leaves the organization's infrastructure.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From scattered historical records to an evidence-backed response — entirely on-premise.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43924-A19B-FFB2-4FFD-A7BA30C62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ＭＳ Ｐゴシック" pitchFamily="1" charset="-128"/>
                <a:cs typeface="+mn-cs"/>
              </a:rPr>
              <a:t>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radeGothic"/>
              <a:ea typeface="ＭＳ Ｐゴシック" pitchFamily="1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EB8EB-E161-911D-9B20-6040B844D68D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5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71177F-FABD-1459-1FAB-BBBE3154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48"/>
          <a:stretch>
            <a:fillRect/>
          </a:stretch>
        </p:blipFill>
        <p:spPr>
          <a:xfrm>
            <a:off x="6180515" y="1876856"/>
            <a:ext cx="5988761" cy="319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83370" y="-119205"/>
            <a:ext cx="10972800" cy="1143000"/>
          </a:xfrm>
        </p:spPr>
        <p:txBody>
          <a:bodyPr/>
          <a:lstStyle/>
          <a:p>
            <a:pPr eaLnBrk="1" hangingPunct="1"/>
            <a:r>
              <a:rPr lang="en-US" sz="33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97760" y="829229"/>
            <a:ext cx="5798239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Research &amp; References:</a:t>
            </a:r>
            <a:endParaRPr lang="en-IN" sz="1600" dirty="0">
              <a:hlinkClick r:id="rId3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4"/>
              </a:rPr>
              <a:t>Ministry of Coal – Annual Reports </a:t>
            </a:r>
            <a:r>
              <a:rPr lang="en-IN" sz="1600" dirty="0"/>
              <a:t>— Production, distribution, exploration, safety, R&amp;D and coal-sector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5"/>
              </a:rPr>
              <a:t>Ministry of Coal – Coal Statistics </a:t>
            </a:r>
            <a:r>
              <a:rPr lang="en-IN" sz="1600" dirty="0"/>
              <a:t>— Coal Directory datasets and statistical reports.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6"/>
              </a:rPr>
              <a:t>CMPDI – Annual Reports </a:t>
            </a:r>
            <a:r>
              <a:rPr lang="en-IN" sz="1600" dirty="0"/>
              <a:t>— CMPDI annual reports and organizational/technical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7"/>
              </a:rPr>
              <a:t>Ministry of Coal – R&amp;D Report </a:t>
            </a:r>
            <a:r>
              <a:rPr lang="en-IN" sz="1600" dirty="0"/>
              <a:t>— Coal-sector R&amp;D activities and CMPDI's role in coordinating research. </a:t>
            </a:r>
          </a:p>
          <a:p>
            <a:r>
              <a:rPr lang="en-IN" sz="1600" b="1" dirty="0">
                <a:solidFill>
                  <a:srgbClr val="FF0000"/>
                </a:solidFill>
              </a:rPr>
              <a:t>Technical References:</a:t>
            </a:r>
            <a:endParaRPr lang="en-IN" sz="1600" dirty="0">
              <a:solidFill>
                <a:srgbClr val="FF000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8"/>
              </a:rPr>
              <a:t>FAISS – Facebook AI Research</a:t>
            </a:r>
            <a:r>
              <a:rPr lang="en-IN" sz="1600" dirty="0"/>
              <a:t> — Dense-vector similarity search and retrieval.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9"/>
              </a:rPr>
              <a:t>PaddleOCR</a:t>
            </a:r>
            <a:r>
              <a:rPr lang="en-IN" sz="1600" dirty="0">
                <a:hlinkClick r:id="rId9"/>
              </a:rPr>
              <a:t> – Official Repository</a:t>
            </a:r>
            <a:r>
              <a:rPr lang="en-IN" sz="1600" dirty="0"/>
              <a:t> — OCR, document parsing and table recognition.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10"/>
              </a:rPr>
              <a:t>PyMuPDF</a:t>
            </a:r>
            <a:r>
              <a:rPr lang="en-IN" sz="1600" dirty="0">
                <a:hlinkClick r:id="rId10"/>
              </a:rPr>
              <a:t> Documentation </a:t>
            </a:r>
            <a:r>
              <a:rPr lang="en-IN" sz="1600" dirty="0"/>
              <a:t>— PDF extraction and processing.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linkClick r:id="rId11"/>
              </a:rPr>
              <a:t>python-docx Documentation</a:t>
            </a:r>
            <a:r>
              <a:rPr lang="en-IN" sz="1600" dirty="0"/>
              <a:t> — Automated Word-document generation.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linkClick r:id="rId12"/>
              </a:rPr>
              <a:t>OpenPyXL</a:t>
            </a:r>
            <a:r>
              <a:rPr lang="en-IN" sz="1600" dirty="0">
                <a:hlinkClick r:id="rId12"/>
              </a:rPr>
              <a:t> Documentation </a:t>
            </a:r>
            <a:r>
              <a:rPr lang="en-IN" sz="1600" dirty="0"/>
              <a:t>— Excel processing and structured-data extraction.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1376" y="63497"/>
            <a:ext cx="1862709" cy="63265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NEXUS_ALPHA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058" y="55244"/>
            <a:ext cx="2093566" cy="98854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5B0532-1DD3-8466-75CF-ECC84A623DB5}"/>
              </a:ext>
            </a:extLst>
          </p:cNvPr>
          <p:cNvCxnSpPr>
            <a:cxnSpLocks/>
          </p:cNvCxnSpPr>
          <p:nvPr/>
        </p:nvCxnSpPr>
        <p:spPr>
          <a:xfrm>
            <a:off x="5944903" y="986676"/>
            <a:ext cx="31689" cy="45157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52BF43B-FB9D-9F8D-BEB3-30133B4478CF}"/>
              </a:ext>
            </a:extLst>
          </p:cNvPr>
          <p:cNvSpPr txBox="1"/>
          <p:nvPr/>
        </p:nvSpPr>
        <p:spPr>
          <a:xfrm>
            <a:off x="5963621" y="956466"/>
            <a:ext cx="61506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b="1" dirty="0"/>
              <a:t>Future Improvements:</a:t>
            </a:r>
          </a:p>
          <a:p>
            <a:pPr lvl="0"/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Confidence Firewall</a:t>
            </a:r>
            <a:r>
              <a:rPr lang="en-IN" sz="1600" dirty="0"/>
              <a:t> — automatically flags uncertain or high-risk outputs for human review.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Sovereign AI Federation</a:t>
            </a:r>
            <a:r>
              <a:rPr lang="en-IN" sz="1600" dirty="0"/>
              <a:t> — securely connects multiple isolated ARIA deployments without sharing confidential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Organizational Memory Graph</a:t>
            </a:r>
            <a:r>
              <a:rPr lang="en-IN" sz="1600" dirty="0"/>
              <a:t> — connects historical reports, equipment, SOPs, incidents and maintenance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Offline AI Marketplace</a:t>
            </a:r>
            <a:r>
              <a:rPr lang="en-IN" sz="1600" dirty="0"/>
              <a:t> — securely imports approved models, tools and workflows into air-gapped environments.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 Cluster Scaling</a:t>
            </a:r>
            <a:r>
              <a:rPr lang="en-IN" sz="1600" dirty="0"/>
              <a:t> — distributes workloads across multiple local AI servers based on availability and task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Digital-Twin Intelligence</a:t>
            </a:r>
            <a:r>
              <a:rPr lang="en-IN" sz="1600" dirty="0"/>
              <a:t> — combines ARIA's knowledge with operational data for predictive maintenance and decision support.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Evidence Integrity</a:t>
            </a:r>
            <a:r>
              <a:rPr lang="en-IN" sz="1600" dirty="0"/>
              <a:t> — stores cryptographic hashes of source documents and generated reports to detect tampering.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516C6-7683-2EF3-1B02-E81D9912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396" y="6551323"/>
            <a:ext cx="12224792" cy="30667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32B9A-33E3-1853-9C9C-0B24FA210D9C}"/>
              </a:ext>
            </a:extLst>
          </p:cNvPr>
          <p:cNvSpPr txBox="1"/>
          <p:nvPr/>
        </p:nvSpPr>
        <p:spPr>
          <a:xfrm>
            <a:off x="2906410" y="6563006"/>
            <a:ext cx="61144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chemeClr val="bg1"/>
                </a:solidFill>
                <a:latin typeface="TradeGothic"/>
              </a:rPr>
              <a:t>@SIH Idea submission</a:t>
            </a:r>
            <a:endParaRPr lang="en-US" sz="1200" dirty="0">
              <a:solidFill>
                <a:schemeClr val="accent2">
                  <a:lumMod val="75000"/>
                </a:schemeClr>
              </a:solidFill>
              <a:latin typeface="TradeGothic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ECE6E9-6892-E48E-F198-45982D5383DB}"/>
              </a:ext>
            </a:extLst>
          </p:cNvPr>
          <p:cNvSpPr txBox="1"/>
          <p:nvPr/>
        </p:nvSpPr>
        <p:spPr>
          <a:xfrm>
            <a:off x="11081564" y="6551323"/>
            <a:ext cx="134047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77C3CE7-23F7-4828-823C-E0205DF2CF97}" type="slidenum">
              <a:rPr lang="en-US" sz="1200" b="1">
                <a:solidFill>
                  <a:schemeClr val="bg1"/>
                </a:solidFill>
              </a:rPr>
              <a:pPr/>
              <a:t>6</a:t>
            </a:fld>
            <a:endParaRPr lang="en-US" sz="1200" b="1" dirty="0">
              <a:solidFill>
                <a:schemeClr val="bg1"/>
              </a:solidFill>
            </a:endParaRPr>
          </a:p>
          <a:p>
            <a:endParaRPr lang="en-IN" sz="10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06917E-3ADE-893F-A51A-4C1DEF579909}"/>
              </a:ext>
            </a:extLst>
          </p:cNvPr>
          <p:cNvCxnSpPr>
            <a:cxnSpLocks/>
          </p:cNvCxnSpPr>
          <p:nvPr/>
        </p:nvCxnSpPr>
        <p:spPr>
          <a:xfrm flipH="1">
            <a:off x="164886" y="5718748"/>
            <a:ext cx="1186222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71356-36FD-DA5E-E06B-EFFFE6AB2333}"/>
              </a:ext>
            </a:extLst>
          </p:cNvPr>
          <p:cNvSpPr txBox="1"/>
          <p:nvPr/>
        </p:nvSpPr>
        <p:spPr>
          <a:xfrm>
            <a:off x="297761" y="5787093"/>
            <a:ext cx="11875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 Demo Link:  </a:t>
            </a:r>
            <a:r>
              <a:rPr lang="en-IN" sz="2000" dirty="0">
                <a:solidFill>
                  <a:srgbClr val="00B0F0"/>
                </a:solidFill>
              </a:rPr>
              <a:t>https://youtu.be/mYemqU1wmE4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8526</TotalTime>
  <Words>1097</Words>
  <Application>Microsoft Office PowerPoint</Application>
  <PresentationFormat>Widescreen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ARIA: Offline AI for Evidence-Backed Mining Intelligence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Jeevan Haris</cp:lastModifiedBy>
  <cp:revision>199</cp:revision>
  <dcterms:created xsi:type="dcterms:W3CDTF">2013-12-12T18:46:50Z</dcterms:created>
  <dcterms:modified xsi:type="dcterms:W3CDTF">2026-10-08T13:41:39Z</dcterms:modified>
  <cp:category/>
</cp:coreProperties>
</file>