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  <a:srgbClr val="FF33CC"/>
    <a:srgbClr val="EBF1DE"/>
    <a:srgbClr val="CC99FF"/>
    <a:srgbClr val="FF99FF"/>
    <a:srgbClr val="9BBB59"/>
    <a:srgbClr val="39B0D4"/>
    <a:srgbClr val="727272"/>
    <a:srgbClr val="010000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0" autoAdjust="0"/>
    <p:restoredTop sz="92941" autoAdjust="0"/>
  </p:normalViewPr>
  <p:slideViewPr>
    <p:cSldViewPr snapToGrid="0" snapToObjects="1">
      <p:cViewPr varScale="1">
        <p:scale>
          <a:sx n="76" d="100"/>
          <a:sy n="76" d="100"/>
        </p:scale>
        <p:origin x="898" y="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faiss" TargetMode="External"/><Relationship Id="rId7" Type="http://schemas.openxmlformats.org/officeDocument/2006/relationships/hyperlink" Target="https://openpyxl.readthedocs.io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thon-docx.readthedocs.io/" TargetMode="External"/><Relationship Id="rId5" Type="http://schemas.openxmlformats.org/officeDocument/2006/relationships/hyperlink" Target="https://pymupdf.readthedocs.io/" TargetMode="External"/><Relationship Id="rId4" Type="http://schemas.openxmlformats.org/officeDocument/2006/relationships/hyperlink" Target="https://github.com/PaddlePaddle/PaddleOC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613914" y="342397"/>
            <a:ext cx="7092069" cy="786142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NEXUS_ALPHA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38267" y="-509493"/>
            <a:ext cx="10363200" cy="2076450"/>
          </a:xfrm>
        </p:spPr>
        <p:txBody>
          <a:bodyPr/>
          <a:lstStyle/>
          <a:p>
            <a:r>
              <a:rPr lang="en-IN" sz="4000" b="1" dirty="0" err="1">
                <a:solidFill>
                  <a:schemeClr val="tx2"/>
                </a:solidFill>
                <a:latin typeface="Garamond" panose="02020404030301010803" pitchFamily="18" charset="0"/>
              </a:rPr>
              <a:t>Puducherry_Police_Hackathon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0533" y="1233607"/>
            <a:ext cx="10363200" cy="337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just">
              <a:lnSpc>
                <a:spcPct val="100000"/>
              </a:lnSpc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b="0" i="0" dirty="0">
                <a:solidFill>
                  <a:srgbClr val="212529"/>
                </a:solidFill>
                <a:effectLst/>
                <a:latin typeface="montserratregular"/>
              </a:rPr>
              <a:t>Intelligent Proposal Management &amp; Precedent Retrieval System</a:t>
            </a:r>
            <a:endParaRPr lang="en-US" sz="2200" dirty="0">
              <a:solidFill>
                <a:srgbClr val="212529"/>
              </a:solidFill>
              <a:latin typeface="montserratregular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12529"/>
                </a:solidFill>
                <a:latin typeface="montserratregular"/>
              </a:rPr>
              <a:t>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AI-enabled proposal management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Institution -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MVIT, Puducherry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NEXUS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3B3244-9303-3FD5-4316-A5CF3211673E}"/>
              </a:ext>
            </a:extLst>
          </p:cNvPr>
          <p:cNvSpPr/>
          <p:nvPr/>
        </p:nvSpPr>
        <p:spPr>
          <a:xfrm>
            <a:off x="179622" y="763157"/>
            <a:ext cx="5658724" cy="284374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11521" y="774512"/>
            <a:ext cx="5658724" cy="2831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Problem: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0" dirty="0"/>
              <a:t>Proposals on administrative, technical, procurement and training matters sit across </a:t>
            </a:r>
            <a:r>
              <a:rPr lang="en-IN" sz="1600" b="1" dirty="0"/>
              <a:t>scattered files and departments</a:t>
            </a:r>
            <a:r>
              <a:rPr lang="en-IN" sz="1600" b="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0" dirty="0"/>
              <a:t>Officers cannot quickly tell whether a </a:t>
            </a:r>
            <a:r>
              <a:rPr lang="en-IN" sz="1600" b="1" dirty="0"/>
              <a:t>similar proposal was already approved, rejected, modified or implemented</a:t>
            </a:r>
            <a:r>
              <a:rPr lang="en-IN" sz="1600" b="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0" dirty="0"/>
              <a:t>Manual searching causes </a:t>
            </a:r>
            <a:r>
              <a:rPr lang="en-IN" sz="1600" b="1" dirty="0"/>
              <a:t>duplicate proposals and inconsistent decisions</a:t>
            </a:r>
            <a:r>
              <a:rPr lang="en-IN" sz="1600" b="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0" dirty="0"/>
              <a:t>Knowledge stays with individual officers and is lost on </a:t>
            </a:r>
            <a:r>
              <a:rPr lang="en-IN" sz="1600" b="1" dirty="0"/>
              <a:t>transfers</a:t>
            </a:r>
            <a:r>
              <a:rPr lang="en-IN" sz="1600" b="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0" dirty="0"/>
              <a:t>No single system tracks a proposal </a:t>
            </a:r>
            <a:r>
              <a:rPr lang="en-IN" sz="1600" b="1" dirty="0"/>
              <a:t>from creation to closure</a:t>
            </a:r>
            <a:r>
              <a:rPr lang="en-IN" sz="1600" b="0" dirty="0"/>
              <a:t> with precedents.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19D321-7EE8-4C36-20AE-0411668FAB55}"/>
              </a:ext>
            </a:extLst>
          </p:cNvPr>
          <p:cNvSpPr/>
          <p:nvPr/>
        </p:nvSpPr>
        <p:spPr>
          <a:xfrm>
            <a:off x="160710" y="3741450"/>
            <a:ext cx="4974000" cy="27027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AA743-141F-F4B9-84A4-669B25E076E0}"/>
              </a:ext>
            </a:extLst>
          </p:cNvPr>
          <p:cNvSpPr txBox="1"/>
          <p:nvPr/>
        </p:nvSpPr>
        <p:spPr>
          <a:xfrm>
            <a:off x="137199" y="3663312"/>
            <a:ext cx="499751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Innovation &amp; Uniqueness:</a:t>
            </a:r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Precedent Intelligence</a:t>
            </a:r>
            <a:r>
              <a:rPr lang="en-IN" sz="1600" b="0" dirty="0"/>
              <a:t> — Explains why past proposals are similar and how they were decided.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Evidence Provenance</a:t>
            </a:r>
            <a:r>
              <a:rPr lang="en-IN" sz="1600" b="0" dirty="0"/>
              <a:t> — Cites the source document, page and decision note for every suggestion.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Contradiction Detection</a:t>
            </a:r>
            <a:r>
              <a:rPr lang="en-IN" sz="1600" b="0" dirty="0"/>
              <a:t> — Flags clashes with earlier decisions for human review, not guesses.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Duplicate &amp; Rejection Alerts</a:t>
            </a:r>
            <a:r>
              <a:rPr lang="en-IN" sz="1600" b="0" dirty="0"/>
              <a:t> — Warns if a similar proposal is active or was rejected before.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Institutional Memory</a:t>
            </a:r>
            <a:r>
              <a:rPr lang="en-IN" sz="1600" b="0" dirty="0"/>
              <a:t> — Turns historical files into a searchable precedent archive.</a:t>
            </a: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41550" y="-133159"/>
            <a:ext cx="9217300" cy="976351"/>
          </a:xfrm>
        </p:spPr>
        <p:txBody>
          <a:bodyPr/>
          <a:lstStyle/>
          <a:p>
            <a:pPr eaLnBrk="1" hangingPunct="1"/>
            <a:r>
              <a:rPr lang="en-IN" sz="25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ARIA-IPMPRS: Offline Proposal &amp; Precedent AI</a:t>
            </a:r>
            <a:endParaRPr lang="en-US" sz="255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Puducherry Police Hackathon 2026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990" y="1434060"/>
            <a:ext cx="1562745" cy="7378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B2D7D0-31FE-38A8-07C4-13D0DCF61A70}"/>
              </a:ext>
            </a:extLst>
          </p:cNvPr>
          <p:cNvSpPr txBox="1"/>
          <p:nvPr/>
        </p:nvSpPr>
        <p:spPr>
          <a:xfrm>
            <a:off x="5988495" y="775300"/>
            <a:ext cx="6137921" cy="28931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Proposed Solution: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End-to-End Proposal Lifecycle</a:t>
            </a:r>
            <a:r>
              <a:rPr lang="en-IN" sz="1600" b="0" dirty="0"/>
              <a:t> — Tracks each proposal from draft to closure with status history and audit trail.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Precedent Retrieval</a:t>
            </a:r>
            <a:r>
              <a:rPr lang="en-IN" sz="1600" b="0" dirty="0"/>
              <a:t> — Finds similar past proposals with outcome, deciding authority and reasoning.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Live Drafting Assistant</a:t>
            </a:r>
            <a:r>
              <a:rPr lang="en-IN" sz="1600" b="0" dirty="0"/>
              <a:t> — Shows precedents and duplicate alerts while the officer is drafting.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100% Local / Offline AI</a:t>
            </a:r>
            <a:r>
              <a:rPr lang="en-IN" sz="1600" b="0" dirty="0"/>
              <a:t> — Documents, queries and decisions stay within Police infrastructure.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Evidence-Based Search (English &amp; Tamil)</a:t>
            </a:r>
            <a:r>
              <a:rPr lang="en-IN" sz="1600" b="0" dirty="0"/>
              <a:t> — Every result is traced to its source document and page.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F4E915-F7D8-A39F-7708-DBAA67C6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396" y="6551323"/>
            <a:ext cx="12224792" cy="30667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bg1"/>
                </a:solidFill>
                <a:latin typeface="TradeGothic"/>
              </a:rPr>
              <a:t>Puducherry Police Hackathon 2026</a:t>
            </a:r>
            <a:endParaRPr lang="en-US" sz="1200" dirty="0">
              <a:solidFill>
                <a:schemeClr val="accent2">
                  <a:lumMod val="75000"/>
                </a:schemeClr>
              </a:solidFill>
              <a:latin typeface="TradeGothic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E2C7F1-56E8-A29D-D48C-CE646071B7DF}"/>
              </a:ext>
            </a:extLst>
          </p:cNvPr>
          <p:cNvSpPr txBox="1"/>
          <p:nvPr/>
        </p:nvSpPr>
        <p:spPr>
          <a:xfrm>
            <a:off x="11081564" y="6551323"/>
            <a:ext cx="134047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77C3CE7-23F7-4828-823C-E0205DF2CF97}" type="slidenum">
              <a:rPr lang="en-US" sz="1200" b="1">
                <a:solidFill>
                  <a:schemeClr val="bg1"/>
                </a:solidFill>
              </a:rPr>
              <a:pPr/>
              <a:t>2</a:t>
            </a:fld>
            <a:endParaRPr lang="en-US" sz="1200" b="1" dirty="0">
              <a:solidFill>
                <a:schemeClr val="bg1"/>
              </a:solidFill>
            </a:endParaRPr>
          </a:p>
          <a:p>
            <a:endParaRPr lang="en-IN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0A5B64-E61A-7047-C0FD-0E5AE7383F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6" t="1" r="702" b="-908"/>
          <a:stretch>
            <a:fillRect/>
          </a:stretch>
        </p:blipFill>
        <p:spPr>
          <a:xfrm>
            <a:off x="5158220" y="3658223"/>
            <a:ext cx="6980319" cy="2893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D333AC-6250-D1D0-8BF2-8CBE2C7A87E0}"/>
              </a:ext>
            </a:extLst>
          </p:cNvPr>
          <p:cNvSpPr/>
          <p:nvPr/>
        </p:nvSpPr>
        <p:spPr>
          <a:xfrm>
            <a:off x="68975" y="604116"/>
            <a:ext cx="3783699" cy="59904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97072" y="-300530"/>
            <a:ext cx="10273470" cy="1055193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4968" y="597149"/>
            <a:ext cx="3856741" cy="6309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FF0000"/>
                </a:solidFill>
              </a:rPr>
              <a:t>Proposed Technical Stack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sz="1600" b="1" dirty="0"/>
              <a:t>AI / Models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Open-weight LLMs — Llama / Qwen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Local Vision &amp; OCR models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Multilingual embeddings (EN / Tamil)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Similarity &amp; explanation models</a:t>
            </a:r>
          </a:p>
          <a:p>
            <a:r>
              <a:rPr lang="en-IN" sz="1600" b="1" dirty="0"/>
              <a:t>Backend / AI Orchestration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Python + </a:t>
            </a:r>
            <a:r>
              <a:rPr lang="en-IN" sz="1600" dirty="0" err="1"/>
              <a:t>FastAPI</a:t>
            </a:r>
            <a:r>
              <a:rPr lang="en-IN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Proposal workflow &amp; audit engine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Model Router; llama.cpp inference</a:t>
            </a:r>
          </a:p>
          <a:p>
            <a:r>
              <a:rPr lang="en-IN" sz="1600" b="1" dirty="0"/>
              <a:t>Knowledge &amp; Data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PostgreSQL — proposals, decisions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FAISS / Chroma — vector index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BM25 + Vector Search — Hybrid RAG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Metadata filters &amp; provenance store</a:t>
            </a:r>
          </a:p>
          <a:p>
            <a:r>
              <a:rPr lang="en-IN" sz="1600" b="1" dirty="0"/>
              <a:t>Document Processing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PaddleOCR</a:t>
            </a:r>
            <a:r>
              <a:rPr lang="en-IN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python-docx , </a:t>
            </a:r>
            <a:r>
              <a:rPr lang="en-IN" sz="1600" dirty="0" err="1"/>
              <a:t>PyMuPDF</a:t>
            </a:r>
            <a:r>
              <a:rPr lang="en-IN" sz="1600" dirty="0"/>
              <a:t> , </a:t>
            </a:r>
            <a:r>
              <a:rPr lang="en-IN" sz="1600" dirty="0" err="1"/>
              <a:t>Openpyxl</a:t>
            </a:r>
            <a:r>
              <a:rPr lang="en-IN" sz="16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Pandas</a:t>
            </a:r>
          </a:p>
          <a:p>
            <a:r>
              <a:rPr lang="en-IN" sz="1600" b="1" dirty="0"/>
              <a:t>Frontend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Role-based views: HTML, CSS, JS</a:t>
            </a:r>
          </a:p>
          <a:p>
            <a:r>
              <a:rPr lang="en-IN" sz="1600" b="1" dirty="0"/>
              <a:t>Security &amp; Infrastructure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Role-based access &amp; audit log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Private / Air-Gapped Network </a:t>
            </a:r>
          </a:p>
          <a:p>
            <a:pPr lvl="0"/>
            <a:endParaRPr lang="en-IN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Puducherry Police Hackathon 2026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86EFD1-2365-B7BB-9374-AAACD1CE85A3}"/>
              </a:ext>
            </a:extLst>
          </p:cNvPr>
          <p:cNvSpPr txBox="1"/>
          <p:nvPr/>
        </p:nvSpPr>
        <p:spPr>
          <a:xfrm>
            <a:off x="4039962" y="4265685"/>
            <a:ext cx="31672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solidFill>
                  <a:srgbClr val="FF0000"/>
                </a:solidFill>
              </a:rPr>
              <a:t>Working Prototype:</a:t>
            </a:r>
          </a:p>
          <a:p>
            <a:r>
              <a:rPr lang="en-IN" dirty="0"/>
              <a:t>The prototype demonstrates </a:t>
            </a:r>
            <a:r>
              <a:rPr lang="en-IN" b="1" dirty="0"/>
              <a:t>proposal workflow, precedent search, live drafting alerts, source-cited explanations and offline AI</a:t>
            </a:r>
            <a:r>
              <a:rPr lang="en-IN" dirty="0"/>
              <a:t> for Puducherry Police proposals.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039B4E7-09A9-8ED7-38B5-84A79AB6C6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97149" y="4276231"/>
            <a:ext cx="4925875" cy="231836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27B4EE-C8BF-AD61-EB81-38B3821AB0AD}"/>
              </a:ext>
            </a:extLst>
          </p:cNvPr>
          <p:cNvCxnSpPr>
            <a:cxnSpLocks/>
          </p:cNvCxnSpPr>
          <p:nvPr/>
        </p:nvCxnSpPr>
        <p:spPr>
          <a:xfrm>
            <a:off x="3946961" y="557875"/>
            <a:ext cx="31689" cy="593489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4DD3102-9ABE-BEA2-923C-2952553F5659}"/>
              </a:ext>
            </a:extLst>
          </p:cNvPr>
          <p:cNvCxnSpPr>
            <a:cxnSpLocks/>
          </p:cNvCxnSpPr>
          <p:nvPr/>
        </p:nvCxnSpPr>
        <p:spPr>
          <a:xfrm flipV="1">
            <a:off x="4019337" y="4226093"/>
            <a:ext cx="8204428" cy="131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9ADE15C-8D58-DDD4-9147-76E924079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4147"/>
            <a:ext cx="12192000" cy="237403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bg1"/>
                </a:solidFill>
                <a:latin typeface="TradeGothic"/>
              </a:rPr>
              <a:t>Puducherry Police Hackathon 2026</a:t>
            </a:r>
            <a:endParaRPr lang="en-US" sz="1200" dirty="0">
              <a:solidFill>
                <a:schemeClr val="accent2">
                  <a:lumMod val="75000"/>
                </a:schemeClr>
              </a:solidFill>
              <a:latin typeface="Trade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D4D276-F11A-6F42-7BD6-19F5C02F02F4}"/>
              </a:ext>
            </a:extLst>
          </p:cNvPr>
          <p:cNvSpPr txBox="1"/>
          <p:nvPr/>
        </p:nvSpPr>
        <p:spPr>
          <a:xfrm>
            <a:off x="11081564" y="6551323"/>
            <a:ext cx="134047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77C3CE7-23F7-4828-823C-E0205DF2CF97}" type="slidenum">
              <a:rPr lang="en-US" sz="1200" b="1">
                <a:solidFill>
                  <a:schemeClr val="bg1"/>
                </a:solidFill>
              </a:rPr>
              <a:pPr/>
              <a:t>3</a:t>
            </a:fld>
            <a:endParaRPr lang="en-US" sz="1200" b="1" dirty="0">
              <a:solidFill>
                <a:schemeClr val="bg1"/>
              </a:solidFill>
            </a:endParaRPr>
          </a:p>
          <a:p>
            <a:endParaRPr lang="en-IN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350CCA5-3269-DD66-71A2-68095BC481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47" t="5729" b="10415"/>
          <a:stretch>
            <a:fillRect/>
          </a:stretch>
        </p:blipFill>
        <p:spPr>
          <a:xfrm>
            <a:off x="4124943" y="454686"/>
            <a:ext cx="7997319" cy="37508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60947" y="841097"/>
            <a:ext cx="5526904" cy="28315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Feasibility</a:t>
            </a:r>
            <a:r>
              <a:rPr lang="en-IN" b="1" dirty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Open-weight LLMs, embeddings and OCR</a:t>
            </a:r>
            <a:r>
              <a:rPr lang="en-IN" sz="1600" b="0" dirty="0"/>
              <a:t> run on a single local machine (e.g. via Hugging Face).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0" dirty="0"/>
              <a:t>Existing technologies support </a:t>
            </a:r>
            <a:r>
              <a:rPr lang="en-IN" sz="1600" b="1" dirty="0"/>
              <a:t>LLMs, OCR, RAG and workflow automation</a:t>
            </a:r>
            <a:r>
              <a:rPr lang="en-IN" sz="1600" b="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0" dirty="0"/>
              <a:t>PyMuPDF, PaddleOCR and python-docx handle the </a:t>
            </a:r>
            <a:r>
              <a:rPr lang="en-IN" sz="1600" b="1" dirty="0"/>
              <a:t>PDF, scanned and Word files</a:t>
            </a:r>
            <a:r>
              <a:rPr lang="en-IN" sz="1600" b="0" dirty="0"/>
              <a:t> police units use.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Modular design</a:t>
            </a:r>
            <a:r>
              <a:rPr lang="en-IN" sz="1600" b="0" dirty="0"/>
              <a:t> lets new proposal categories, departments and models be added without redesign.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Hybrid retrieval</a:t>
            </a:r>
            <a:r>
              <a:rPr lang="en-IN" sz="1600" b="0" dirty="0"/>
              <a:t> combines exact matches (file numbers, names, amounts) with semantic similarity.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Puducherry Police Hackathon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884" y="1500"/>
            <a:ext cx="1824052" cy="8612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C8C3FF-23AF-533F-6588-36A9360D3D82}"/>
              </a:ext>
            </a:extLst>
          </p:cNvPr>
          <p:cNvSpPr txBox="1"/>
          <p:nvPr/>
        </p:nvSpPr>
        <p:spPr>
          <a:xfrm>
            <a:off x="5914177" y="841311"/>
            <a:ext cx="6016875" cy="286232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Viability</a:t>
            </a:r>
            <a:r>
              <a:rPr lang="en-IN" sz="1600" b="1" dirty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Protects sensitive police data</a:t>
            </a:r>
            <a:r>
              <a:rPr lang="en-IN" sz="1600" b="0" dirty="0"/>
              <a:t> through local/on-premise AI processing.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0" dirty="0"/>
              <a:t>Cuts time spent searching old files and </a:t>
            </a:r>
            <a:r>
              <a:rPr lang="en-IN" sz="1600" b="1" dirty="0"/>
              <a:t>reduces duplicate or repeatedly rejected proposals</a:t>
            </a:r>
            <a:r>
              <a:rPr lang="en-IN" sz="1600" b="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0" dirty="0"/>
              <a:t>Builds a </a:t>
            </a:r>
            <a:r>
              <a:rPr lang="en-IN" sz="1600" b="1" dirty="0"/>
              <a:t>centralized institutional memory</a:t>
            </a:r>
            <a:r>
              <a:rPr lang="en-IN" sz="1600" b="0" dirty="0"/>
              <a:t> from historical and current proposals.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0" dirty="0"/>
              <a:t>Supports </a:t>
            </a:r>
            <a:r>
              <a:rPr lang="en-IN" sz="1600" b="1" dirty="0"/>
              <a:t>faster, consistent and better-justified decisions</a:t>
            </a:r>
            <a:r>
              <a:rPr lang="en-IN" sz="1600" b="0" dirty="0"/>
              <a:t> backed by precedent.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0" dirty="0"/>
              <a:t>Scales from a </a:t>
            </a:r>
            <a:r>
              <a:rPr lang="en-IN" sz="1600" b="1" dirty="0"/>
              <a:t>single unit → district → department-wide deployment</a:t>
            </a:r>
            <a:r>
              <a:rPr lang="en-IN" sz="1600" b="0" dirty="0"/>
              <a:t>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438772-3D2E-05F3-B41D-8528D8267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760597"/>
              </p:ext>
            </p:extLst>
          </p:nvPr>
        </p:nvGraphicFramePr>
        <p:xfrm>
          <a:off x="211505" y="3854968"/>
          <a:ext cx="11768990" cy="2437917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5877705">
                  <a:extLst>
                    <a:ext uri="{9D8B030D-6E8A-4147-A177-3AD203B41FA5}">
                      <a16:colId xmlns:a16="http://schemas.microsoft.com/office/drawing/2014/main" val="3826386739"/>
                    </a:ext>
                  </a:extLst>
                </a:gridCol>
                <a:gridCol w="5891285">
                  <a:extLst>
                    <a:ext uri="{9D8B030D-6E8A-4147-A177-3AD203B41FA5}">
                      <a16:colId xmlns:a16="http://schemas.microsoft.com/office/drawing/2014/main" val="1543594442"/>
                    </a:ext>
                  </a:extLst>
                </a:gridCol>
              </a:tblGrid>
              <a:tr h="379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Challenges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Solution to Overcome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841312"/>
                  </a:ext>
                </a:extLst>
              </a:tr>
              <a:tr h="41266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500" dirty="0"/>
                        <a:t>GPU/RAM limitations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500" dirty="0"/>
                        <a:t>Use quantized models and dynamic loading to optimize resources.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838180"/>
                  </a:ext>
                </a:extLst>
              </a:tr>
              <a:tr h="31611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500" dirty="0"/>
                        <a:t>AI hallucinations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500" dirty="0"/>
                        <a:t>Ground responses with local RAG, verification and human review.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159048"/>
                  </a:ext>
                </a:extLst>
              </a:tr>
              <a:tr h="31611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Conflicting past decisions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500" i="0" dirty="0"/>
                        <a:t>Flagged side by side for human review, never auto-resolved.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867273"/>
                  </a:ext>
                </a:extLst>
              </a:tr>
              <a:tr h="31611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Similar wording, different intent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b="0" dirty="0"/>
                        <a:t>Hybrid search + metadata filters; officer confirms.</a:t>
                      </a:r>
                      <a:endParaRPr lang="en-IN" sz="1500" b="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174675"/>
                  </a:ext>
                </a:extLst>
              </a:tr>
              <a:tr h="31611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No real police records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b="0" dirty="0"/>
                        <a:t>Synthetic proposal set now; real archives ingested later.</a:t>
                      </a:r>
                      <a:endParaRPr lang="en-IN" sz="1500" b="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81295"/>
                  </a:ext>
                </a:extLst>
              </a:tr>
              <a:tr h="31611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500" dirty="0"/>
                        <a:t>Complex / poor-quality documents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500" dirty="0"/>
                        <a:t>Combine OCR + Vision, preprocessing and validation.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8377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C025A30-66C2-2BD7-5E3A-07060EF35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396" y="6551323"/>
            <a:ext cx="12224792" cy="30667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ＭＳ Ｐゴシック" pitchFamily="1" charset="-128"/>
                <a:cs typeface="+mn-cs"/>
              </a:rPr>
              <a:t>Puducherry Police Hackathon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radeGothic"/>
              <a:ea typeface="ＭＳ Ｐゴシック" pitchFamily="1" charset="-128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B40BE5-2EE7-5FA9-12BC-DC889472DFE2}"/>
              </a:ext>
            </a:extLst>
          </p:cNvPr>
          <p:cNvSpPr txBox="1"/>
          <p:nvPr/>
        </p:nvSpPr>
        <p:spPr>
          <a:xfrm>
            <a:off x="11081564" y="6551323"/>
            <a:ext cx="134047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77C3CE7-23F7-4828-823C-E0205DF2CF97}" type="slidenum">
              <a:rPr lang="en-US" sz="1200" b="1">
                <a:solidFill>
                  <a:schemeClr val="bg1"/>
                </a:solidFill>
              </a:rPr>
              <a:pPr/>
              <a:t>4</a:t>
            </a:fld>
            <a:endParaRPr lang="en-US" sz="1200" b="1" dirty="0">
              <a:solidFill>
                <a:schemeClr val="bg1"/>
              </a:solidFill>
            </a:endParaRPr>
          </a:p>
          <a:p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936C339-60DA-DAF7-5CB8-97869FBF7FD1}"/>
              </a:ext>
            </a:extLst>
          </p:cNvPr>
          <p:cNvSpPr/>
          <p:nvPr/>
        </p:nvSpPr>
        <p:spPr>
          <a:xfrm>
            <a:off x="233445" y="692436"/>
            <a:ext cx="5724600" cy="2710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1D6A57-628B-9D14-9693-6B1E26044EA4}"/>
              </a:ext>
            </a:extLst>
          </p:cNvPr>
          <p:cNvSpPr/>
          <p:nvPr/>
        </p:nvSpPr>
        <p:spPr>
          <a:xfrm>
            <a:off x="233445" y="3484924"/>
            <a:ext cx="5724600" cy="29965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32485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08161" y="683587"/>
            <a:ext cx="5723236" cy="307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FF0000"/>
                </a:solidFill>
              </a:rPr>
              <a:t>Potential Impact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Police Headquarters / Departments</a:t>
            </a:r>
            <a:r>
              <a:rPr lang="en-IN" sz="1600" b="0" dirty="0"/>
              <a:t> — faster, better-informed decisions on proposals.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Reviewing &amp; Approving Officers</a:t>
            </a:r>
            <a:r>
              <a:rPr lang="en-IN" sz="1600" b="0" dirty="0"/>
              <a:t> — instant precedents and past reasoning.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Proposal Initiators</a:t>
            </a:r>
            <a:r>
              <a:rPr lang="en-IN" sz="1600" b="0" dirty="0"/>
              <a:t> — fewer rejections, gaps fixed early.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Administration</a:t>
            </a:r>
            <a:r>
              <a:rPr lang="en-IN" sz="1600" b="0" dirty="0"/>
              <a:t> — standardized handling and clear status tracking.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Organization</a:t>
            </a:r>
            <a:r>
              <a:rPr lang="en-IN" sz="1600" b="0" dirty="0"/>
              <a:t> — preserved institutional knowledge with secure offline AI.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18F63-D81B-8339-1A86-6B52B10A8544}"/>
              </a:ext>
            </a:extLst>
          </p:cNvPr>
          <p:cNvSpPr txBox="1"/>
          <p:nvPr/>
        </p:nvSpPr>
        <p:spPr>
          <a:xfrm>
            <a:off x="216660" y="3473428"/>
            <a:ext cx="584765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0000"/>
                </a:solidFill>
              </a:rPr>
              <a:t>Benefits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Faster Reviews</a:t>
            </a:r>
            <a:r>
              <a:rPr lang="en-IN" sz="1600" b="0" dirty="0"/>
              <a:t> — reduces time spent searching files and preparing proposals.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Fewer Duplicates</a:t>
            </a:r>
            <a:r>
              <a:rPr lang="en-IN" sz="1600" b="0" dirty="0"/>
              <a:t> — avoids repeating proposals that were already decided.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Secure AI Processing</a:t>
            </a:r>
            <a:r>
              <a:rPr lang="en-IN" sz="1600" b="0" dirty="0"/>
              <a:t> — keeps sensitive police data within the local infrastructure.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Consistent Decisions</a:t>
            </a:r>
            <a:r>
              <a:rPr lang="en-IN" sz="1600" b="0" dirty="0"/>
              <a:t> — precedent-backed outcomes with source-level traceability.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Preserved Institutional Knowledge</a:t>
            </a:r>
            <a:r>
              <a:rPr lang="en-IN" sz="1600" b="0" dirty="0"/>
              <a:t> — makes past proposals searchable and reusable.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Improved Accuracy</a:t>
            </a:r>
            <a:r>
              <a:rPr lang="en-IN" sz="1600" b="0" dirty="0"/>
              <a:t> — identifies conflicts with earlier decisions.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A081B1-A79B-8525-8985-4F3C2A38A8EE}"/>
              </a:ext>
            </a:extLst>
          </p:cNvPr>
          <p:cNvCxnSpPr>
            <a:cxnSpLocks/>
          </p:cNvCxnSpPr>
          <p:nvPr/>
        </p:nvCxnSpPr>
        <p:spPr>
          <a:xfrm>
            <a:off x="6096001" y="604018"/>
            <a:ext cx="31689" cy="593489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5B89F01-C01F-7665-29F6-BD774F7DA4B0}"/>
              </a:ext>
            </a:extLst>
          </p:cNvPr>
          <p:cNvSpPr txBox="1"/>
          <p:nvPr/>
        </p:nvSpPr>
        <p:spPr>
          <a:xfrm>
            <a:off x="6155813" y="633887"/>
            <a:ext cx="603816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Use Case: </a:t>
            </a:r>
            <a:r>
              <a:rPr lang="en-IN" sz="1600" b="1" dirty="0"/>
              <a:t>Drafting → Precedent → Better Decision</a:t>
            </a:r>
            <a:endParaRPr lang="en-IN" b="1" dirty="0"/>
          </a:p>
          <a:p>
            <a:r>
              <a:rPr lang="en-IN" b="1" dirty="0"/>
              <a:t>Scenario:</a:t>
            </a:r>
            <a:br>
              <a:rPr lang="en-IN" dirty="0"/>
            </a:br>
            <a:r>
              <a:rPr lang="en-IN" sz="1600" b="1" dirty="0"/>
              <a:t>“Drafting a patrol-vehicle proposal instantly shows two similar past ones: one rejected on cost, one approved with changes.”</a:t>
            </a:r>
            <a:endParaRPr lang="en-IN" sz="17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02D0CE-D6C1-B377-DA10-5A6D04BB883F}"/>
              </a:ext>
            </a:extLst>
          </p:cNvPr>
          <p:cNvSpPr txBox="1"/>
          <p:nvPr/>
        </p:nvSpPr>
        <p:spPr>
          <a:xfrm>
            <a:off x="6395108" y="5283571"/>
            <a:ext cx="56348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All processing happens locally — confidential police information never leaves the organization's infrastructure.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From scattered files to precedent-backed decisions — entirely on-premise.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443924-A19B-FFB2-4FFD-A7BA30C62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396" y="6551323"/>
            <a:ext cx="12224792" cy="30667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ＭＳ Ｐゴシック" pitchFamily="1" charset="-128"/>
                <a:cs typeface="+mn-cs"/>
              </a:rPr>
              <a:t>Puducherry Police Hackathon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radeGothic"/>
              <a:ea typeface="ＭＳ Ｐゴシック" pitchFamily="1" charset="-128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4EB8EB-E161-911D-9B20-6040B844D68D}"/>
              </a:ext>
            </a:extLst>
          </p:cNvPr>
          <p:cNvSpPr txBox="1"/>
          <p:nvPr/>
        </p:nvSpPr>
        <p:spPr>
          <a:xfrm>
            <a:off x="11081564" y="6551323"/>
            <a:ext cx="134047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77C3CE7-23F7-4828-823C-E0205DF2CF97}" type="slidenum">
              <a:rPr lang="en-US" sz="1200" b="1">
                <a:solidFill>
                  <a:schemeClr val="bg1"/>
                </a:solidFill>
              </a:rPr>
              <a:pPr/>
              <a:t>5</a:t>
            </a:fld>
            <a:endParaRPr lang="en-US" sz="1200" b="1" dirty="0">
              <a:solidFill>
                <a:schemeClr val="bg1"/>
              </a:solidFill>
            </a:endParaRPr>
          </a:p>
          <a:p>
            <a:endParaRPr lang="en-IN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71177F-FABD-1459-1FAB-BBBE3154D2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3" t="26762" r="533" b="9475"/>
          <a:stretch>
            <a:fillRect/>
          </a:stretch>
        </p:blipFill>
        <p:spPr>
          <a:xfrm>
            <a:off x="6180515" y="1865842"/>
            <a:ext cx="5988761" cy="335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83370" y="-119205"/>
            <a:ext cx="10972800" cy="1143000"/>
          </a:xfrm>
        </p:spPr>
        <p:txBody>
          <a:bodyPr/>
          <a:lstStyle/>
          <a:p>
            <a:pPr eaLnBrk="1" hangingPunct="1"/>
            <a:r>
              <a:rPr lang="en-US" sz="33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97760" y="829229"/>
            <a:ext cx="5798239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Research &amp; References: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Puducherry Police Hackathon 2026 — Problem Statement 01: IPMPRS (problem definition and scope).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NIC e-Office — Government file and proposal management practices.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BM25 + Dense Retrieval — Hybrid keyword and semantic search for precedent matching.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Multilingual Sentence Embeddings — Semantic similarity for English and Tamil text. </a:t>
            </a:r>
          </a:p>
          <a:p>
            <a:r>
              <a:rPr lang="en-IN" sz="1600" b="1" dirty="0">
                <a:solidFill>
                  <a:srgbClr val="FF0000"/>
                </a:solidFill>
              </a:rPr>
              <a:t>Technical References:</a:t>
            </a:r>
            <a:endParaRPr lang="en-IN" sz="1600" dirty="0">
              <a:solidFill>
                <a:srgbClr val="FF000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hlinkClick r:id="rId3"/>
              </a:rPr>
              <a:t>FAISS – Facebook AI Research</a:t>
            </a:r>
            <a:r>
              <a:rPr lang="en-IN" sz="1600" dirty="0"/>
              <a:t> — Dense-vector similarity search and retrieval.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hlinkClick r:id="rId4"/>
              </a:rPr>
              <a:t>PaddleOCR</a:t>
            </a:r>
            <a:r>
              <a:rPr lang="en-IN" sz="1600" dirty="0">
                <a:hlinkClick r:id="rId4"/>
              </a:rPr>
              <a:t> – Official Repository</a:t>
            </a:r>
            <a:r>
              <a:rPr lang="en-IN" sz="1600" dirty="0"/>
              <a:t> — OCR, document parsing and table recognition.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hlinkClick r:id="rId5"/>
              </a:rPr>
              <a:t>PyMuPDF</a:t>
            </a:r>
            <a:r>
              <a:rPr lang="en-IN" sz="1600" dirty="0">
                <a:hlinkClick r:id="rId5"/>
              </a:rPr>
              <a:t> Documentation </a:t>
            </a:r>
            <a:r>
              <a:rPr lang="en-IN" sz="1600" dirty="0"/>
              <a:t>— PDF extraction and processing.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hlinkClick r:id="rId6"/>
              </a:rPr>
              <a:t>python-docx Documentation</a:t>
            </a:r>
            <a:r>
              <a:rPr lang="en-IN" sz="1600" dirty="0"/>
              <a:t> — Automated Word-document generation.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hlinkClick r:id="rId7"/>
              </a:rPr>
              <a:t>OpenPyXL</a:t>
            </a:r>
            <a:r>
              <a:rPr lang="en-IN" sz="1600" dirty="0">
                <a:hlinkClick r:id="rId7"/>
              </a:rPr>
              <a:t> Documentation </a:t>
            </a:r>
            <a:r>
              <a:rPr lang="en-IN" sz="1600" dirty="0"/>
              <a:t>— Excel processing and structured-data extraction.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Puducherry Police Hackathon 2026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5B0532-1DD3-8466-75CF-ECC84A623DB5}"/>
              </a:ext>
            </a:extLst>
          </p:cNvPr>
          <p:cNvCxnSpPr>
            <a:cxnSpLocks/>
          </p:cNvCxnSpPr>
          <p:nvPr/>
        </p:nvCxnSpPr>
        <p:spPr>
          <a:xfrm>
            <a:off x="5944903" y="986676"/>
            <a:ext cx="31689" cy="45157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52BF43B-FB9D-9F8D-BEB3-30133B4478CF}"/>
              </a:ext>
            </a:extLst>
          </p:cNvPr>
          <p:cNvSpPr txBox="1"/>
          <p:nvPr/>
        </p:nvSpPr>
        <p:spPr>
          <a:xfrm>
            <a:off x="5963621" y="956466"/>
            <a:ext cx="615060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b="1" dirty="0"/>
              <a:t>Future Improvements:</a:t>
            </a:r>
          </a:p>
          <a:p>
            <a:pPr lvl="0"/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Confidence Firewall</a:t>
            </a:r>
            <a:r>
              <a:rPr lang="en-IN" sz="1600" b="0" dirty="0"/>
              <a:t> — automatically flags uncertain or high-risk suggestions for human review.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Evidence Integrity</a:t>
            </a:r>
            <a:r>
              <a:rPr lang="en-IN" sz="1600" b="0" dirty="0"/>
              <a:t> — stores cryptographic hashes of proposals and decisions to detect tampering.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Organizational Memory Graph</a:t>
            </a:r>
            <a:r>
              <a:rPr lang="en-IN" sz="1600" b="0" dirty="0"/>
              <a:t> — links proposals to decisions, budgets, equipment and outcomes.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Outcome Prediction</a:t>
            </a:r>
            <a:r>
              <a:rPr lang="en-IN" sz="1600" b="0" dirty="0"/>
              <a:t> — estimates approval likelihood and common rejection reasons from precedent.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Voice Queries (Tamil / English)</a:t>
            </a:r>
            <a:r>
              <a:rPr lang="en-IN" sz="1600" b="0" dirty="0"/>
              <a:t> — uses ARIA's offline speech pipeline for hands-free search.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Multi-Unit Deployment</a:t>
            </a:r>
            <a:r>
              <a:rPr lang="en-IN" sz="1600" b="0" dirty="0"/>
              <a:t> — securely extends the system across police stations and units.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2516C6-7683-2EF3-1B02-E81D9912A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396" y="6551323"/>
            <a:ext cx="12224792" cy="30667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432B9A-33E3-1853-9C9C-0B24FA210D9C}"/>
              </a:ext>
            </a:extLst>
          </p:cNvPr>
          <p:cNvSpPr txBox="1"/>
          <p:nvPr/>
        </p:nvSpPr>
        <p:spPr>
          <a:xfrm>
            <a:off x="2906410" y="6563006"/>
            <a:ext cx="61144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bg1"/>
                </a:solidFill>
                <a:latin typeface="TradeGothic"/>
              </a:rPr>
              <a:t>Puducherry Police Hackathon 2026</a:t>
            </a:r>
            <a:endParaRPr lang="en-US" sz="1200" dirty="0">
              <a:solidFill>
                <a:schemeClr val="accent2">
                  <a:lumMod val="75000"/>
                </a:schemeClr>
              </a:solidFill>
              <a:latin typeface="Trade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ECE6E9-6892-E48E-F198-45982D5383DB}"/>
              </a:ext>
            </a:extLst>
          </p:cNvPr>
          <p:cNvSpPr txBox="1"/>
          <p:nvPr/>
        </p:nvSpPr>
        <p:spPr>
          <a:xfrm>
            <a:off x="11081564" y="6551323"/>
            <a:ext cx="134047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77C3CE7-23F7-4828-823C-E0205DF2CF97}" type="slidenum">
              <a:rPr lang="en-US" sz="1200" b="1">
                <a:solidFill>
                  <a:schemeClr val="bg1"/>
                </a:solidFill>
              </a:rPr>
              <a:pPr/>
              <a:t>6</a:t>
            </a:fld>
            <a:endParaRPr lang="en-US" sz="1200" b="1" dirty="0">
              <a:solidFill>
                <a:schemeClr val="bg1"/>
              </a:solidFill>
            </a:endParaRPr>
          </a:p>
          <a:p>
            <a:endParaRPr lang="en-IN" sz="10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406917E-3ADE-893F-A51A-4C1DEF579909}"/>
              </a:ext>
            </a:extLst>
          </p:cNvPr>
          <p:cNvCxnSpPr>
            <a:cxnSpLocks/>
          </p:cNvCxnSpPr>
          <p:nvPr/>
        </p:nvCxnSpPr>
        <p:spPr>
          <a:xfrm flipH="1">
            <a:off x="164886" y="5718748"/>
            <a:ext cx="1186222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8466</TotalTime>
  <Words>1071</Words>
  <Application>Microsoft Office PowerPoint</Application>
  <PresentationFormat>Widescreen</PresentationFormat>
  <Paragraphs>144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montserratregular</vt:lpstr>
      <vt:lpstr>Times New Roman</vt:lpstr>
      <vt:lpstr>TradeGothic</vt:lpstr>
      <vt:lpstr>Wingdings</vt:lpstr>
      <vt:lpstr>Office Theme</vt:lpstr>
      <vt:lpstr>Puducherry_Police_Hackathon</vt:lpstr>
      <vt:lpstr>ARIA-IPMPRS: Offline Proposal &amp; Precedent AI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Jeevan Haris</cp:lastModifiedBy>
  <cp:revision>203</cp:revision>
  <dcterms:created xsi:type="dcterms:W3CDTF">2013-12-12T18:46:50Z</dcterms:created>
  <dcterms:modified xsi:type="dcterms:W3CDTF">2026-10-12T03:30:57Z</dcterms:modified>
  <cp:category/>
</cp:coreProperties>
</file>